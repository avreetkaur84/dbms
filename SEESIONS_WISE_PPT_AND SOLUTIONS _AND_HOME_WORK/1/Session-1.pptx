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57" r:id="rId5"/>
    <p:sldId id="263" r:id="rId6"/>
    <p:sldId id="264" r:id="rId7"/>
    <p:sldId id="265" r:id="rId8"/>
    <p:sldId id="266" r:id="rId9"/>
    <p:sldId id="267" r:id="rId10"/>
    <p:sldId id="260" r:id="rId11"/>
    <p:sldId id="261" r:id="rId12"/>
    <p:sldId id="272" r:id="rId13"/>
    <p:sldId id="273" r:id="rId14"/>
    <p:sldId id="268" r:id="rId15"/>
    <p:sldId id="269" r:id="rId16"/>
    <p:sldId id="270" r:id="rId17"/>
    <p:sldId id="271" r:id="rId18"/>
    <p:sldId id="26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J7e17HbeQQ+Gd/lIF2HTe3iOp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abh Bhatiya" userId="4aeb1d964388bde7" providerId="LiveId" clId="{F1BE86B2-52BC-4110-B142-B68EC8350F78}"/>
    <pc:docChg chg="undo custSel addSld modSld">
      <pc:chgData name="Shalabh Bhatiya" userId="4aeb1d964388bde7" providerId="LiveId" clId="{F1BE86B2-52BC-4110-B142-B68EC8350F78}" dt="2025-12-09T16:55:01.149" v="64" actId="478"/>
      <pc:docMkLst>
        <pc:docMk/>
      </pc:docMkLst>
      <pc:sldChg chg="addSp delSp modSp new mod">
        <pc:chgData name="Shalabh Bhatiya" userId="4aeb1d964388bde7" providerId="LiveId" clId="{F1BE86B2-52BC-4110-B142-B68EC8350F78}" dt="2025-12-09T16:54:51.389" v="61" actId="1076"/>
        <pc:sldMkLst>
          <pc:docMk/>
          <pc:sldMk cId="2360887204" sldId="272"/>
        </pc:sldMkLst>
        <pc:spChg chg="del">
          <ac:chgData name="Shalabh Bhatiya" userId="4aeb1d964388bde7" providerId="LiveId" clId="{F1BE86B2-52BC-4110-B142-B68EC8350F78}" dt="2025-12-09T16:47:08.137" v="6" actId="478"/>
          <ac:spMkLst>
            <pc:docMk/>
            <pc:sldMk cId="2360887204" sldId="272"/>
            <ac:spMk id="2" creationId="{F0144771-3BDD-A7CD-61CF-F696CA49A001}"/>
          </ac:spMkLst>
        </pc:spChg>
        <pc:spChg chg="mod">
          <ac:chgData name="Shalabh Bhatiya" userId="4aeb1d964388bde7" providerId="LiveId" clId="{F1BE86B2-52BC-4110-B142-B68EC8350F78}" dt="2025-12-09T16:54:21.226" v="56" actId="20577"/>
          <ac:spMkLst>
            <pc:docMk/>
            <pc:sldMk cId="2360887204" sldId="272"/>
            <ac:spMk id="3" creationId="{E51748D7-4B60-5693-CEA6-E3DD3412B71D}"/>
          </ac:spMkLst>
        </pc:spChg>
        <pc:graphicFrameChg chg="add del mod">
          <ac:chgData name="Shalabh Bhatiya" userId="4aeb1d964388bde7" providerId="LiveId" clId="{F1BE86B2-52BC-4110-B142-B68EC8350F78}" dt="2025-12-09T16:54:12.707" v="55" actId="21"/>
          <ac:graphicFrameMkLst>
            <pc:docMk/>
            <pc:sldMk cId="2360887204" sldId="272"/>
            <ac:graphicFrameMk id="4" creationId="{E5215963-F941-71D7-1F9B-0D03F0EB9849}"/>
          </ac:graphicFrameMkLst>
        </pc:graphicFrameChg>
        <pc:graphicFrameChg chg="add del mod">
          <ac:chgData name="Shalabh Bhatiya" userId="4aeb1d964388bde7" providerId="LiveId" clId="{F1BE86B2-52BC-4110-B142-B68EC8350F78}" dt="2025-12-09T16:53:56.889" v="50" actId="478"/>
          <ac:graphicFrameMkLst>
            <pc:docMk/>
            <pc:sldMk cId="2360887204" sldId="272"/>
            <ac:graphicFrameMk id="5" creationId="{C34A2994-8913-8F99-9EE4-9CD6F458F36F}"/>
          </ac:graphicFrameMkLst>
        </pc:graphicFrameChg>
        <pc:picChg chg="add mod">
          <ac:chgData name="Shalabh Bhatiya" userId="4aeb1d964388bde7" providerId="LiveId" clId="{F1BE86B2-52BC-4110-B142-B68EC8350F78}" dt="2025-12-09T16:54:07.399" v="54" actId="14100"/>
          <ac:picMkLst>
            <pc:docMk/>
            <pc:sldMk cId="2360887204" sldId="272"/>
            <ac:picMk id="7" creationId="{2C1803AE-0F5B-A6A0-9DD6-BB19C8FAC86E}"/>
          </ac:picMkLst>
        </pc:picChg>
        <pc:picChg chg="add mod">
          <ac:chgData name="Shalabh Bhatiya" userId="4aeb1d964388bde7" providerId="LiveId" clId="{F1BE86B2-52BC-4110-B142-B68EC8350F78}" dt="2025-12-09T16:54:51.389" v="61" actId="1076"/>
          <ac:picMkLst>
            <pc:docMk/>
            <pc:sldMk cId="2360887204" sldId="272"/>
            <ac:picMk id="9" creationId="{19FD5D90-FB4B-43FB-6EF2-8FD359456491}"/>
          </ac:picMkLst>
        </pc:picChg>
      </pc:sldChg>
      <pc:sldChg chg="addSp delSp modSp new mod">
        <pc:chgData name="Shalabh Bhatiya" userId="4aeb1d964388bde7" providerId="LiveId" clId="{F1BE86B2-52BC-4110-B142-B68EC8350F78}" dt="2025-12-09T16:55:01.149" v="64" actId="478"/>
        <pc:sldMkLst>
          <pc:docMk/>
          <pc:sldMk cId="2484001027" sldId="273"/>
        </pc:sldMkLst>
        <pc:spChg chg="del">
          <ac:chgData name="Shalabh Bhatiya" userId="4aeb1d964388bde7" providerId="LiveId" clId="{F1BE86B2-52BC-4110-B142-B68EC8350F78}" dt="2025-12-09T16:49:56.635" v="30" actId="478"/>
          <ac:spMkLst>
            <pc:docMk/>
            <pc:sldMk cId="2484001027" sldId="273"/>
            <ac:spMk id="2" creationId="{830B8A70-E323-ED9A-B586-B9974BED51F9}"/>
          </ac:spMkLst>
        </pc:spChg>
        <pc:spChg chg="del mod">
          <ac:chgData name="Shalabh Bhatiya" userId="4aeb1d964388bde7" providerId="LiveId" clId="{F1BE86B2-52BC-4110-B142-B68EC8350F78}" dt="2025-12-09T16:55:01.149" v="64" actId="478"/>
          <ac:spMkLst>
            <pc:docMk/>
            <pc:sldMk cId="2484001027" sldId="273"/>
            <ac:spMk id="3" creationId="{86ED448B-2EB7-F81D-C8E0-6D90D888D86D}"/>
          </ac:spMkLst>
        </pc:spChg>
        <pc:graphicFrameChg chg="add del mod modGraphic">
          <ac:chgData name="Shalabh Bhatiya" userId="4aeb1d964388bde7" providerId="LiveId" clId="{F1BE86B2-52BC-4110-B142-B68EC8350F78}" dt="2025-12-09T16:51:43.493" v="41" actId="21"/>
          <ac:graphicFrameMkLst>
            <pc:docMk/>
            <pc:sldMk cId="2484001027" sldId="273"/>
            <ac:graphicFrameMk id="4" creationId="{0DB8754A-3216-F90A-575C-91DA90ABCD58}"/>
          </ac:graphicFrameMkLst>
        </pc:graphicFrameChg>
        <pc:picChg chg="add mod">
          <ac:chgData name="Shalabh Bhatiya" userId="4aeb1d964388bde7" providerId="LiveId" clId="{F1BE86B2-52BC-4110-B142-B68EC8350F78}" dt="2025-12-09T16:54:59.817" v="63" actId="14100"/>
          <ac:picMkLst>
            <pc:docMk/>
            <pc:sldMk cId="2484001027" sldId="273"/>
            <ac:picMk id="6" creationId="{884B94B1-0D34-0AE2-4FF7-CD9E0BE2F0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ca3ed811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aca3ed811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114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ca3ed811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aca3ed811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174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ca3ed811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aca3ed811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ca3ed811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aca3ed811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ca3ed811b_0_11"/>
          <p:cNvSpPr txBox="1"/>
          <p:nvPr/>
        </p:nvSpPr>
        <p:spPr>
          <a:xfrm>
            <a:off x="1390436" y="113015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g3aca3ed811b_0_11"/>
          <p:cNvSpPr txBox="1"/>
          <p:nvPr/>
        </p:nvSpPr>
        <p:spPr>
          <a:xfrm>
            <a:off x="1318517" y="37788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  <p:pic>
        <p:nvPicPr>
          <p:cNvPr id="100" name="Google Shape;100;g3aca3ed811b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aca3ed811b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746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a3ed811b_0_18"/>
          <p:cNvSpPr txBox="1"/>
          <p:nvPr/>
        </p:nvSpPr>
        <p:spPr>
          <a:xfrm>
            <a:off x="1390436" y="113015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aca3ed811b_0_18"/>
          <p:cNvSpPr txBox="1"/>
          <p:nvPr/>
        </p:nvSpPr>
        <p:spPr>
          <a:xfrm>
            <a:off x="1318517" y="37788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  <p:pic>
        <p:nvPicPr>
          <p:cNvPr id="108" name="Google Shape;108;g3aca3ed811b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aca3ed811b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aca3ed811b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66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a3ed811b_0_5"/>
          <p:cNvSpPr txBox="1"/>
          <p:nvPr/>
        </p:nvSpPr>
        <p:spPr>
          <a:xfrm>
            <a:off x="1390436" y="113015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aca3ed811b_0_5"/>
          <p:cNvSpPr txBox="1"/>
          <p:nvPr/>
        </p:nvSpPr>
        <p:spPr>
          <a:xfrm>
            <a:off x="1318517" y="37788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  <p:pic>
        <p:nvPicPr>
          <p:cNvPr id="93" name="Google Shape;93;g3aca3ed811b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B5CA-4E21-3CA3-AA92-A11F3BD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Views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B6B36-EEB2-7151-707A-07D97432C0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175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VIEW IS A DATABASE OBJECT</a:t>
            </a:r>
          </a:p>
          <a:p>
            <a:pPr marL="0" indent="0">
              <a:buNone/>
            </a:pPr>
            <a:r>
              <a:rPr lang="en-US" dirty="0"/>
              <a:t>2. VIEW IS CREATED OVER AN SQL QUERY</a:t>
            </a:r>
          </a:p>
          <a:p>
            <a:pPr marL="0" indent="0">
              <a:buNone/>
            </a:pPr>
            <a:r>
              <a:rPr lang="en-US" dirty="0"/>
              <a:t>3. VIEW DOES NOT STORE ANY DATA </a:t>
            </a:r>
          </a:p>
          <a:p>
            <a:pPr marL="0" indent="0">
              <a:buNone/>
            </a:pPr>
            <a:r>
              <a:rPr lang="en-US" dirty="0"/>
              <a:t>4. VIEW IS LIKE A VIRTUAL TABLE</a:t>
            </a:r>
          </a:p>
          <a:p>
            <a:pPr marL="0" indent="0">
              <a:buNone/>
            </a:pPr>
            <a:r>
              <a:rPr lang="en-US" dirty="0"/>
              <a:t>5. DATA ABSTRACTION-&gt;Data abstraction in views means </a:t>
            </a:r>
          </a:p>
          <a:p>
            <a:pPr marL="0" indent="0">
              <a:buNone/>
            </a:pPr>
            <a:r>
              <a:rPr lang="en-US" dirty="0"/>
              <a:t>hiding the complexity of database tables and presenting only the required information to the user, using a view.</a:t>
            </a:r>
          </a:p>
          <a:p>
            <a:pPr marL="0" indent="0">
              <a:buNone/>
            </a:pPr>
            <a:r>
              <a:rPr lang="en-US" dirty="0"/>
              <a:t> 6. SECURITY : ROW LEVEL &amp; COLUMN LEVEL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2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F1CB-6DAC-15A5-0465-EB7BE089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821"/>
            <a:ext cx="10515600" cy="5858464"/>
          </a:xfrm>
        </p:spPr>
        <p:txBody>
          <a:bodyPr/>
          <a:lstStyle/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Row level security</a:t>
            </a:r>
            <a:r>
              <a:rPr lang="en-US" dirty="0"/>
              <a:t>: restricts </a:t>
            </a:r>
            <a:r>
              <a:rPr lang="en-US" b="1" dirty="0"/>
              <a:t>rows</a:t>
            </a:r>
            <a:r>
              <a:rPr lang="en-US" dirty="0"/>
              <a:t> (with WHERE clause). </a:t>
            </a:r>
          </a:p>
          <a:p>
            <a:pPr marL="0" indent="0">
              <a:buNone/>
            </a:pPr>
            <a:r>
              <a:rPr lang="en-US" b="1" u="sng" dirty="0"/>
              <a:t>Column level security:  </a:t>
            </a:r>
            <a:r>
              <a:rPr lang="en-US" dirty="0"/>
              <a:t>restricts </a:t>
            </a:r>
            <a:r>
              <a:rPr lang="en-US" b="1" dirty="0"/>
              <a:t>columns</a:t>
            </a:r>
            <a:r>
              <a:rPr lang="en-US" dirty="0"/>
              <a:t> (by selecting only some columns).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So, a </a:t>
            </a:r>
            <a:r>
              <a:rPr lang="en-US" b="1" dirty="0"/>
              <a:t>view is a security layer</a:t>
            </a:r>
            <a:r>
              <a:rPr lang="en-US" dirty="0"/>
              <a:t> where you decide:</a:t>
            </a:r>
          </a:p>
          <a:p>
            <a:r>
              <a:rPr lang="en-US" dirty="0"/>
              <a:t>Which </a:t>
            </a:r>
            <a:r>
              <a:rPr lang="en-US" b="1" dirty="0"/>
              <a:t>rows</a:t>
            </a:r>
            <a:r>
              <a:rPr lang="en-US" dirty="0"/>
              <a:t> a user can access (row-level).</a:t>
            </a:r>
          </a:p>
          <a:p>
            <a:r>
              <a:rPr lang="en-US" dirty="0"/>
              <a:t>Which </a:t>
            </a:r>
            <a:r>
              <a:rPr lang="en-US" b="1" dirty="0"/>
              <a:t>columns</a:t>
            </a:r>
            <a:r>
              <a:rPr lang="en-US" dirty="0"/>
              <a:t> a user can access (column-level).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Syntax of Views </a:t>
            </a:r>
            <a:r>
              <a:rPr lang="en-US" b="1" u="sng" dirty="0" err="1"/>
              <a:t>Postgre</a:t>
            </a:r>
            <a:r>
              <a:rPr lang="en-US" b="1" u="sng" dirty="0"/>
              <a:t>:</a:t>
            </a:r>
          </a:p>
          <a:p>
            <a:pPr marL="0" indent="0">
              <a:buNone/>
            </a:pP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F3319-B610-E54E-10C0-B868AAA57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00" y="5685328"/>
            <a:ext cx="4064209" cy="10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82A4-A5E2-CCC6-9B2D-91698588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MATERIALIZED VIEW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CA98-B888-0841-B378-EE92443D7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Takes disk space</a:t>
            </a:r>
          </a:p>
          <a:p>
            <a:pPr marL="514350" indent="-514350">
              <a:buAutoNum type="arabicParenBoth"/>
            </a:pPr>
            <a:r>
              <a:rPr lang="en-US" dirty="0"/>
              <a:t>A </a:t>
            </a:r>
            <a:r>
              <a:rPr lang="en-US" b="1" dirty="0"/>
              <a:t>materialized view (MV)</a:t>
            </a:r>
            <a:r>
              <a:rPr lang="en-US" dirty="0"/>
              <a:t> is different: it </a:t>
            </a:r>
            <a:r>
              <a:rPr lang="en-US" b="1" dirty="0"/>
              <a:t>stores the actual result of the query physically</a:t>
            </a:r>
            <a:r>
              <a:rPr lang="en-US" dirty="0"/>
              <a:t> </a:t>
            </a:r>
          </a:p>
          <a:p>
            <a:pPr marL="514350" indent="-514350">
              <a:buAutoNum type="arabicParenBoth"/>
            </a:pPr>
            <a:r>
              <a:rPr lang="en-US" dirty="0"/>
              <a:t>Since results are precomputed and stored, queries on a materialized view run much faster.(</a:t>
            </a:r>
            <a:r>
              <a:rPr lang="en-IN" dirty="0"/>
              <a:t>Performance</a:t>
            </a:r>
            <a:r>
              <a:rPr lang="en-US" dirty="0"/>
              <a:t> Boost)</a:t>
            </a:r>
          </a:p>
          <a:p>
            <a:pPr marL="514350" indent="-514350">
              <a:buAutoNum type="arabicParenBoth"/>
            </a:pPr>
            <a:r>
              <a:rPr lang="en-US" dirty="0"/>
              <a:t>Materialized views store physical data and cannot be </a:t>
            </a:r>
            <a:r>
              <a:rPr lang="en-US" b="1" dirty="0"/>
              <a:t>updated and Inserted Data  directly.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955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7ED06-8FA8-9618-5795-37B8B0DFF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964"/>
            <a:ext cx="10515600" cy="5128999"/>
          </a:xfrm>
        </p:spPr>
        <p:txBody>
          <a:bodyPr/>
          <a:lstStyle/>
          <a:p>
            <a:r>
              <a:rPr lang="en-US" b="1" dirty="0"/>
              <a:t>Refresh needed</a:t>
            </a:r>
            <a:r>
              <a:rPr lang="en-US" dirty="0"/>
              <a:t> – Data in a materialized view can become stale(Out dated or not Fresh) if base tables change. That’s why we use:</a:t>
            </a:r>
          </a:p>
          <a:p>
            <a:r>
              <a:rPr lang="en-US" dirty="0"/>
              <a:t>REFRESH COMPLETE (rebuilds the whole MV)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2C039C-8451-E77E-3531-69805D2DB66A}"/>
              </a:ext>
            </a:extLst>
          </p:cNvPr>
          <p:cNvGraphicFramePr>
            <a:graphicFrameLocks noGrp="1"/>
          </p:cNvGraphicFramePr>
          <p:nvPr/>
        </p:nvGraphicFramePr>
        <p:xfrm>
          <a:off x="1251164" y="440808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616355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02491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Normal View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Materialized View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95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only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actual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7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Always up-to-date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become stale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803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storage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storage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1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 (query runs each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(precomputed results)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389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18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3F2E-F87D-71AF-5695-3CD01248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Syntax: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895374-98CC-1040-ED5F-D7E4348F9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With data</a:t>
            </a:r>
            <a:r>
              <a:rPr lang="en-IN" u="sng" dirty="0"/>
              <a:t>: </a:t>
            </a:r>
            <a:r>
              <a:rPr lang="en-IN" dirty="0"/>
              <a:t>It is optional t</a:t>
            </a:r>
            <a:r>
              <a:rPr lang="en-US" dirty="0"/>
              <a:t>ells PostgreSQL to </a:t>
            </a:r>
            <a:r>
              <a:rPr lang="en-US" b="1" dirty="0"/>
              <a:t>populate(Add data in MV or Fill the Data) the materialized view immediately</a:t>
            </a:r>
            <a:r>
              <a:rPr lang="en-US" dirty="0"/>
              <a:t> with the results of the query.</a:t>
            </a:r>
          </a:p>
          <a:p>
            <a:pPr marL="0" indent="0">
              <a:buNone/>
            </a:pPr>
            <a:r>
              <a:rPr lang="en-US" b="1" u="sng" dirty="0"/>
              <a:t>With No Data: </a:t>
            </a:r>
            <a:r>
              <a:rPr lang="en-US" dirty="0"/>
              <a:t>Creates the MV structure but doesn’t fill it yet; you would need to run REFRESH MATERIALIZED VIEW </a:t>
            </a:r>
            <a:r>
              <a:rPr lang="en-US" dirty="0" err="1"/>
              <a:t>sales_summary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Syntax: REFRESH MATERIALIZED VIEW </a:t>
            </a:r>
            <a:r>
              <a:rPr lang="en-US" b="1" u="sng" dirty="0" err="1"/>
              <a:t>sales_summary</a:t>
            </a:r>
            <a:r>
              <a:rPr lang="en-US" b="1" u="sng" dirty="0"/>
              <a:t>;</a:t>
            </a:r>
          </a:p>
          <a:p>
            <a:endParaRPr lang="en-IN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BD3545B-1BA2-2950-C6CD-02B206BF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829" y="1150705"/>
            <a:ext cx="6092575" cy="237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8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838200" y="801384"/>
            <a:ext cx="10515600" cy="5375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Question:</a:t>
            </a:r>
            <a:endParaRPr b="1"/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353" y="2025577"/>
            <a:ext cx="8044901" cy="446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04477"/>
            <a:ext cx="5562886" cy="3092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0941" y="4030121"/>
            <a:ext cx="5734345" cy="231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48D7-4B60-5693-CEA6-E3DD3412B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974" y="798210"/>
            <a:ext cx="10515600" cy="4351338"/>
          </a:xfrm>
        </p:spPr>
        <p:txBody>
          <a:bodyPr/>
          <a:lstStyle/>
          <a:p>
            <a:pPr marL="114300" indent="0">
              <a:buNone/>
            </a:pPr>
            <a:endParaRPr lang="en-IN" b="1" u="sng" dirty="0"/>
          </a:p>
          <a:p>
            <a:pPr marL="114300" indent="0">
              <a:buNone/>
            </a:pPr>
            <a:endParaRPr lang="en-IN" b="1" u="sng" dirty="0"/>
          </a:p>
          <a:p>
            <a:pPr marL="114300" indent="0">
              <a:buNone/>
            </a:pPr>
            <a:endParaRPr lang="en-IN" b="1" u="sng" dirty="0"/>
          </a:p>
          <a:p>
            <a:pPr marL="114300" indent="0">
              <a:buNone/>
            </a:pPr>
            <a:endParaRPr lang="en-IN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803AE-0F5B-A6A0-9DD6-BB19C8FA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62" y="3429000"/>
            <a:ext cx="9563554" cy="2630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FD5D90-FB4B-43FB-6EF2-8FD35945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66" y="798210"/>
            <a:ext cx="9100082" cy="263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8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4B94B1-0D34-0AE2-4FF7-CD9E0BE2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88" y="1461582"/>
            <a:ext cx="8735966" cy="261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0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15849-7709-48EB-DCE6-0C19321E9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u="sng" dirty="0"/>
              <a:t>Referential Integrity</a:t>
            </a:r>
            <a:r>
              <a:rPr lang="en-IN" u="sng" dirty="0"/>
              <a:t> </a:t>
            </a:r>
            <a:endParaRPr lang="en-US" b="1" dirty="0"/>
          </a:p>
          <a:p>
            <a:pPr marL="114300" indent="0">
              <a:buNone/>
            </a:pPr>
            <a:r>
              <a:rPr lang="en-US" b="1" dirty="0"/>
              <a:t>If Table A depends on Table B, then A cannot contain invalid or non-existing references.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u="sng" dirty="0"/>
              <a:t>CASCADE in SQL:</a:t>
            </a:r>
          </a:p>
          <a:p>
            <a:pPr marL="114300" indent="0">
              <a:buNone/>
            </a:pPr>
            <a:r>
              <a:rPr lang="en-US" b="1" dirty="0"/>
              <a:t>CASCADE</a:t>
            </a:r>
            <a:r>
              <a:rPr lang="en-US" dirty="0"/>
              <a:t> is an action used with </a:t>
            </a:r>
            <a:r>
              <a:rPr lang="en-US" b="1" dirty="0"/>
              <a:t>FOREIGN KEY constraints</a:t>
            </a:r>
            <a:r>
              <a:rPr lang="en-US" dirty="0"/>
              <a:t> to control what happens to child-table rows when a referenced row in the parent table is </a:t>
            </a:r>
            <a:r>
              <a:rPr lang="en-US" b="1" dirty="0"/>
              <a:t>UPDATED</a:t>
            </a:r>
            <a:r>
              <a:rPr lang="en-US" dirty="0"/>
              <a:t> or </a:t>
            </a:r>
            <a:r>
              <a:rPr lang="en-US" b="1" dirty="0"/>
              <a:t>DELETED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34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3904C-B97F-EB02-22BD-F492D40E7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C797C7-0D0E-A989-EAE2-1F6E58ECE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93099"/>
              </p:ext>
            </p:extLst>
          </p:nvPr>
        </p:nvGraphicFramePr>
        <p:xfrm>
          <a:off x="1888162" y="2579288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464088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25309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152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ON DELETE CASCADE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child rows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113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ON UPDATE CASCADE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child rows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ON DELETE SET NULL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Make child FK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747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SET DEFAULT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 child FK to 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04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 ACTION / RESTRICT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 delete/update if child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24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39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0F2F3-992E-629D-3E97-4EC70336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BA9EE-B939-2A5D-1E85-7BC1AD5C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91" y="1027906"/>
            <a:ext cx="9770724" cy="4951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B2FEE-30A6-92BA-9E41-BC50C08C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239" y="6176963"/>
            <a:ext cx="7340977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36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4337AE-C344-A820-2703-AB63E8E9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71" y="791110"/>
            <a:ext cx="9914561" cy="529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40F4DB-0FAB-1018-CC39-088D7198C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294" y="6082301"/>
            <a:ext cx="4959843" cy="7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65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ca3ed811b_0_35"/>
          <p:cNvSpPr txBox="1"/>
          <p:nvPr/>
        </p:nvSpPr>
        <p:spPr>
          <a:xfrm>
            <a:off x="1390436" y="113015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aca3ed811b_0_35"/>
          <p:cNvSpPr txBox="1"/>
          <p:nvPr/>
        </p:nvSpPr>
        <p:spPr>
          <a:xfrm>
            <a:off x="1318517" y="37788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  <p:pic>
        <p:nvPicPr>
          <p:cNvPr id="129" name="Google Shape;129;g3aca3ed811b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aca3ed811b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aca3ed811b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aca3ed811b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483</Words>
  <Application>Microsoft Office PowerPoint</Application>
  <PresentationFormat>Widescreen</PresentationFormat>
  <Paragraphs>78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Views</vt:lpstr>
      <vt:lpstr>PowerPoint Presentation</vt:lpstr>
      <vt:lpstr>MATERIALIZED VIEW:</vt:lpstr>
      <vt:lpstr>PowerPoint Presentation</vt:lpstr>
      <vt:lpstr>Syntax: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Shalabh Bhatiya</dc:creator>
  <cp:lastModifiedBy>Shalabh Bhatiya</cp:lastModifiedBy>
  <cp:revision>9</cp:revision>
  <dcterms:created xsi:type="dcterms:W3CDTF">2025-11-30T12:33:40Z</dcterms:created>
  <dcterms:modified xsi:type="dcterms:W3CDTF">2025-12-09T16:55:54Z</dcterms:modified>
</cp:coreProperties>
</file>