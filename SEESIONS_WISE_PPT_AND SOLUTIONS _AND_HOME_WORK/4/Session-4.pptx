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8" r:id="rId7"/>
    <p:sldId id="269" r:id="rId8"/>
    <p:sldId id="270" r:id="rId9"/>
    <p:sldId id="271" r:id="rId10"/>
    <p:sldId id="272" r:id="rId11"/>
    <p:sldId id="273" r:id="rId12"/>
    <p:sldId id="261" r:id="rId13"/>
    <p:sldId id="262" r:id="rId14"/>
    <p:sldId id="263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HLpzFvRzNeCxxC2uz8rT9QJUq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5" name="Google Shape;1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0" name="Google Shape;40;p1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8" name="Google Shape;58;p1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1" name="Google Shape;11;p9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11320757" cy="79902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students-and-examinations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 txBox="1"/>
          <p:nvPr/>
        </p:nvSpPr>
        <p:spPr>
          <a:xfrm>
            <a:off x="1390436" y="1130157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</a:pPr>
            <a:r>
              <a:rPr lang="en-IN" sz="6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Winter Winning Camp</a:t>
            </a:r>
            <a:endParaRPr sz="6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1318517" y="3778837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IN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MANAGEMENT SYSTEM</a:t>
            </a:r>
            <a:endParaRPr/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IN" sz="24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Career Planning &amp; Development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>
            <a:spLocks noGrp="1"/>
          </p:cNvSpPr>
          <p:nvPr>
            <p:ph type="title"/>
          </p:nvPr>
        </p:nvSpPr>
        <p:spPr>
          <a:xfrm>
            <a:off x="1187522" y="672958"/>
            <a:ext cx="855238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b="1" u="sng">
                <a:solidFill>
                  <a:schemeClr val="hlink"/>
                </a:solidFill>
                <a:hlinkClick r:id="rId3"/>
              </a:rPr>
              <a:t>Students and Examinations</a:t>
            </a:r>
            <a:endParaRPr b="1"/>
          </a:p>
        </p:txBody>
      </p:sp>
      <p:pic>
        <p:nvPicPr>
          <p:cNvPr id="92" name="Google Shape;92;p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678095" y="2140648"/>
            <a:ext cx="10130318" cy="4198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50" y="1056150"/>
            <a:ext cx="11152051" cy="580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550" y="1632400"/>
            <a:ext cx="10496550" cy="546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700" y="1590675"/>
            <a:ext cx="11201400" cy="526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D42BD-9A78-3110-1C94-5C14B4776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DATE DIFFERENCE:</a:t>
            </a:r>
            <a:endParaRPr lang="en-IN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027ED-3740-F46B-ABC3-27A917E18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71500" indent="-571500">
              <a:buAutoNum type="romanLcParenBoth"/>
            </a:pPr>
            <a:r>
              <a:rPr lang="en-US" dirty="0"/>
              <a:t>DATE DIFFERENCE IN DAYS (INTEGER)</a:t>
            </a:r>
          </a:p>
          <a:p>
            <a:pPr marL="571500" indent="-571500">
              <a:buAutoNum type="romanLcParenBoth"/>
            </a:pPr>
            <a:endParaRPr lang="en-US" dirty="0"/>
          </a:p>
          <a:p>
            <a:pPr marL="571500" indent="-571500">
              <a:buAutoNum type="romanLcParenBoth"/>
            </a:pPr>
            <a:endParaRPr lang="en-US" dirty="0"/>
          </a:p>
          <a:p>
            <a:pPr marL="571500" indent="-571500">
              <a:buAutoNum type="romanLcParenBoth"/>
            </a:pPr>
            <a:r>
              <a:rPr lang="en-IN" dirty="0"/>
              <a:t>Difference in Months (INTEGER)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u="sng" dirty="0"/>
              <a:t>First Understand </a:t>
            </a:r>
            <a:r>
              <a:rPr lang="en-US" b="1" u="sng" dirty="0"/>
              <a:t>DATE_PART() 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In PostgreSQL, </a:t>
            </a:r>
            <a:r>
              <a:rPr lang="en-US" b="1" dirty="0"/>
              <a:t>DATE_PART()</a:t>
            </a:r>
            <a:r>
              <a:rPr lang="en-US" dirty="0"/>
              <a:t> is a function used to extract a specific part of a </a:t>
            </a:r>
            <a:r>
              <a:rPr lang="en-US" b="1" dirty="0"/>
              <a:t>date</a:t>
            </a:r>
            <a:r>
              <a:rPr lang="en-US" dirty="0"/>
              <a:t>, </a:t>
            </a:r>
            <a:r>
              <a:rPr lang="en-US" b="1" dirty="0"/>
              <a:t>timestamp</a:t>
            </a:r>
            <a:r>
              <a:rPr lang="en-US" dirty="0"/>
              <a:t>, or </a:t>
            </a:r>
            <a:r>
              <a:rPr lang="en-US" b="1" dirty="0"/>
              <a:t>interval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u="sng" dirty="0"/>
              <a:t>Syntax:</a:t>
            </a:r>
            <a:endParaRPr lang="en-IN" b="1" u="sn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2664D0-FFA1-8EE5-5739-CF7D44DF8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9667" y="2570489"/>
            <a:ext cx="5226319" cy="4635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BF5AD7-A80D-624C-7FAD-2C7CAD4954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0134" y="5507400"/>
            <a:ext cx="2984491" cy="804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459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FE5D3-4B82-9A71-304B-6669434AFE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9480" y="652462"/>
            <a:ext cx="10515600" cy="4351338"/>
          </a:xfrm>
        </p:spPr>
        <p:txBody>
          <a:bodyPr/>
          <a:lstStyle/>
          <a:p>
            <a:pPr marL="114300" indent="0">
              <a:buNone/>
            </a:pPr>
            <a:r>
              <a:rPr lang="en-US" b="1" dirty="0"/>
              <a:t> </a:t>
            </a:r>
            <a:r>
              <a:rPr lang="en-US" sz="2400" b="1" dirty="0"/>
              <a:t>   field → The part you want (string)</a:t>
            </a:r>
          </a:p>
          <a:p>
            <a:pPr marL="114300" indent="0">
              <a:buNone/>
            </a:pPr>
            <a:r>
              <a:rPr lang="en-US" sz="2400" dirty="0"/>
              <a:t>    Example: 'year', 'month', 'day', 'hour', 'minute', 'second’.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CFCAAA-00F2-2FD7-1FFE-0F36F0F64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22" y="2011123"/>
            <a:ext cx="4869950" cy="1634015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36297F3-72B7-515B-8D44-6662B9313A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218953"/>
              </p:ext>
            </p:extLst>
          </p:nvPr>
        </p:nvGraphicFramePr>
        <p:xfrm>
          <a:off x="5002372" y="2221574"/>
          <a:ext cx="631975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9875">
                  <a:extLst>
                    <a:ext uri="{9D8B030D-6E8A-4147-A177-3AD203B41FA5}">
                      <a16:colId xmlns:a16="http://schemas.microsoft.com/office/drawing/2014/main" val="4162862655"/>
                    </a:ext>
                  </a:extLst>
                </a:gridCol>
                <a:gridCol w="3159875">
                  <a:extLst>
                    <a:ext uri="{9D8B030D-6E8A-4147-A177-3AD203B41FA5}">
                      <a16:colId xmlns:a16="http://schemas.microsoft.com/office/drawing/2014/main" val="39207140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Field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0906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year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Year number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5820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month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1–12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7067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day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Day of month(Number)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3118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hour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0–23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8744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minute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0–59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0857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second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0–59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3779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dow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Day of week (0=Sunday)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5199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doy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Day of year (1–365/366)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9627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epoch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Seconds since 1970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28051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8270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DDD21F0-342B-F681-9F15-8A0E0D020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3600"/>
            <a:ext cx="10515600" cy="5313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Now understand Date Function</a:t>
            </a:r>
          </a:p>
          <a:p>
            <a:pPr marL="0" indent="0">
              <a:buNone/>
            </a:pPr>
            <a:r>
              <a:rPr lang="en-US" b="1" u="sng" dirty="0"/>
              <a:t>Age() </a:t>
            </a:r>
            <a:r>
              <a:rPr lang="en-US" dirty="0"/>
              <a:t>Function</a:t>
            </a:r>
            <a:r>
              <a:rPr lang="en-US" dirty="0">
                <a:sym typeface="Wingdings" panose="05000000000000000000" pitchFamily="2" charset="2"/>
              </a:rPr>
              <a:t> :</a:t>
            </a:r>
            <a:r>
              <a:rPr lang="en-US" dirty="0"/>
              <a:t>It give date difference with year month days</a:t>
            </a:r>
          </a:p>
          <a:p>
            <a:pPr marL="0" indent="0">
              <a:buNone/>
            </a:pPr>
            <a:r>
              <a:rPr lang="en-US" dirty="0"/>
              <a:t>(1)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(2)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(b)</a:t>
            </a:r>
            <a:r>
              <a:rPr lang="en-US" b="1" dirty="0"/>
              <a:t> Now difference in Month </a:t>
            </a:r>
            <a:r>
              <a:rPr lang="en-US" dirty="0"/>
              <a:t>and below  gives you output 4:</a:t>
            </a:r>
          </a:p>
          <a:p>
            <a:pPr marL="514350" indent="-514350">
              <a:buAutoNum type="alphaLcParenBoth"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6807B6-9DF7-49F9-EF21-E0DF4E201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676" y="2110497"/>
            <a:ext cx="5239019" cy="6350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68CF72C-430C-AB89-28C0-EDA218756B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337" y="6032046"/>
            <a:ext cx="5988358" cy="609631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A1E84A9-C9B0-5AF5-7B57-B73D579CFA94}"/>
              </a:ext>
            </a:extLst>
          </p:cNvPr>
          <p:cNvGraphicFramePr>
            <a:graphicFrameLocks noGrp="1"/>
          </p:cNvGraphicFramePr>
          <p:nvPr/>
        </p:nvGraphicFramePr>
        <p:xfrm>
          <a:off x="5141673" y="3065327"/>
          <a:ext cx="541866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81527300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7413662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From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3336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2024-10-21 → 2024-11-21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 month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9604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2024-11-21 → 2024-12-21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 month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6931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2024-12-21 → 2025-01-21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 month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8266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2025-01-21 → 2025-02-21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 month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6392623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7A496BB9-AD78-585C-702B-5C8688539A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1213" y="2986607"/>
            <a:ext cx="3429176" cy="48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304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6537B-94C4-4159-F894-CA887B8E5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(b) </a:t>
            </a:r>
            <a:r>
              <a:rPr lang="en-US" b="1" dirty="0"/>
              <a:t>Difference in month</a:t>
            </a:r>
          </a:p>
          <a:p>
            <a:pPr marL="0" indent="0">
              <a:buNone/>
            </a:pPr>
            <a:r>
              <a:rPr lang="en-US" dirty="0"/>
              <a:t>Below gives you </a:t>
            </a:r>
            <a:r>
              <a:rPr lang="en-US" b="1" dirty="0"/>
              <a:t>output: 3 (It is a month)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 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53E8F3-528E-D2EE-BAC5-36757F80B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079" y="3334728"/>
            <a:ext cx="5835950" cy="825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263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490DF-EDC6-B403-0B6E-323DBA974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8094"/>
            <a:ext cx="10515600" cy="549886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(iii) Difference in Year between two dates</a:t>
            </a:r>
          </a:p>
          <a:p>
            <a:pPr marL="0" indent="0">
              <a:buNone/>
            </a:pPr>
            <a:r>
              <a:rPr lang="en-US" dirty="0"/>
              <a:t>(a)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Output : 0  because 1 year complete from  ‘2024-02-21’ to ‘2025-02-21’</a:t>
            </a:r>
          </a:p>
          <a:p>
            <a:pPr marL="0" indent="0">
              <a:buNone/>
            </a:pPr>
            <a:r>
              <a:rPr lang="en-IN" dirty="0"/>
              <a:t>(b)</a:t>
            </a:r>
          </a:p>
          <a:p>
            <a:pPr marL="0" indent="0">
              <a:buNone/>
            </a:pPr>
            <a:r>
              <a:rPr lang="en-IN" dirty="0"/>
              <a:t>Output: 1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4F9689-BCFE-A71D-6208-78F0862FC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213" y="1265457"/>
            <a:ext cx="4845299" cy="9588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F5B5ABB-29CD-CACB-268B-6454800A45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025" y="4633645"/>
            <a:ext cx="4686541" cy="863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552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B48E36-9A95-D8A1-1DE1-DAF146AD7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719191"/>
            <a:ext cx="10515600" cy="5457772"/>
          </a:xfrm>
        </p:spPr>
        <p:txBody>
          <a:bodyPr/>
          <a:lstStyle/>
          <a:p>
            <a:pPr marL="114300" indent="0">
              <a:buNone/>
            </a:pPr>
            <a:r>
              <a:rPr lang="en-US" dirty="0" err="1"/>
              <a:t>To_char</a:t>
            </a:r>
            <a:r>
              <a:rPr lang="en-US" dirty="0"/>
              <a:t>() Function:</a:t>
            </a:r>
          </a:p>
          <a:p>
            <a:pPr marL="685800" indent="-571500">
              <a:buAutoNum type="romanLcParenBoth"/>
            </a:pPr>
            <a:r>
              <a:rPr lang="en-US" dirty="0"/>
              <a:t>Extract Year</a:t>
            </a:r>
          </a:p>
          <a:p>
            <a:pPr marL="685800" indent="-571500">
              <a:buAutoNum type="romanLcParenBoth"/>
            </a:pPr>
            <a:endParaRPr lang="en-US" dirty="0"/>
          </a:p>
          <a:p>
            <a:pPr marL="685800" indent="-571500">
              <a:buAutoNum type="romanLcParenBoth"/>
            </a:pPr>
            <a:endParaRPr lang="en-US" dirty="0"/>
          </a:p>
          <a:p>
            <a:pPr marL="685800" indent="-571500">
              <a:buAutoNum type="romanLcParenBoth"/>
            </a:pPr>
            <a:r>
              <a:rPr lang="en-US" dirty="0"/>
              <a:t>Extract Year With Month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r>
              <a:rPr lang="en-IN" u="sng" dirty="0"/>
              <a:t>In SQL SERVER AND MYSQL:  </a:t>
            </a:r>
            <a:r>
              <a:rPr lang="en-IN" dirty="0"/>
              <a:t>All are small in MYSQL (For year also)</a:t>
            </a:r>
            <a:r>
              <a:rPr lang="en-IN" u="sng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34D37B-DB67-1EDD-7006-896D02339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5437" y="1780516"/>
            <a:ext cx="3448227" cy="6667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98766E-B85B-3E24-389B-0D1B84948C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1219" y="4096360"/>
            <a:ext cx="4007056" cy="62868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CBEE65C-FE87-0A5D-9036-1ACBF662AD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4498" y="5934637"/>
            <a:ext cx="3606985" cy="1066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81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b="1" u="sng"/>
              <a:t>Monthly Transactions</a:t>
            </a:r>
            <a:endParaRPr u="sng"/>
          </a:p>
        </p:txBody>
      </p:sp>
      <p:pic>
        <p:nvPicPr>
          <p:cNvPr id="113" name="Google Shape;113;p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28772" y="1690688"/>
            <a:ext cx="10829100" cy="480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875" y="1695450"/>
            <a:ext cx="11485574" cy="346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850" y="1465650"/>
            <a:ext cx="10887075" cy="295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270</Words>
  <Application>Microsoft Office PowerPoint</Application>
  <PresentationFormat>Widescreen</PresentationFormat>
  <Paragraphs>81</Paragraphs>
  <Slides>14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Courier New</vt:lpstr>
      <vt:lpstr>Times New Roman</vt:lpstr>
      <vt:lpstr>Wingdings</vt:lpstr>
      <vt:lpstr>Office Theme</vt:lpstr>
      <vt:lpstr>PowerPoint Presentation</vt:lpstr>
      <vt:lpstr>Students and Examinations</vt:lpstr>
      <vt:lpstr>PowerPoint Presentation</vt:lpstr>
      <vt:lpstr>PowerPoint Presentation</vt:lpstr>
      <vt:lpstr>PowerPoint Presentation</vt:lpstr>
      <vt:lpstr>DATE DIFFERENCE: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Monthly Transactions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Shalabh Bhatiya</dc:creator>
  <cp:lastModifiedBy>Shalabh Bhatiya</cp:lastModifiedBy>
  <cp:revision>10</cp:revision>
  <dcterms:created xsi:type="dcterms:W3CDTF">2025-11-30T09:41:45Z</dcterms:created>
  <dcterms:modified xsi:type="dcterms:W3CDTF">2025-12-10T16:59:05Z</dcterms:modified>
</cp:coreProperties>
</file>